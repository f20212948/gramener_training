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Outfit"/>
      <p:regular r:id="rId31"/>
      <p:bold r:id="rId32"/>
    </p:embeddedFont>
    <p:embeddedFont>
      <p:font typeface="Space Grotesk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utfit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SpaceGrotesk-regular.fntdata"/><Relationship Id="rId10" Type="http://schemas.openxmlformats.org/officeDocument/2006/relationships/slide" Target="slides/slide5.xml"/><Relationship Id="rId32" Type="http://schemas.openxmlformats.org/officeDocument/2006/relationships/font" Target="fonts/Outfi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SpaceGrotesk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9f6fc282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a9f6fc2821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9f6fc2821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a9f6fc2821_3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9f6fc2821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a9f6fc2821_3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9f6fc2821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a9f6fc2821_3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9f6fc282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a9f6fc2821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9f6fc2821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a9f6fc2821_3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11" Type="http://schemas.openxmlformats.org/officeDocument/2006/relationships/image" Target="../media/image16.png"/><Relationship Id="rId10" Type="http://schemas.openxmlformats.org/officeDocument/2006/relationships/image" Target="../media/image14.png"/><Relationship Id="rId9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4.png"/><Relationship Id="rId11" Type="http://schemas.openxmlformats.org/officeDocument/2006/relationships/image" Target="../media/image31.png"/><Relationship Id="rId10" Type="http://schemas.openxmlformats.org/officeDocument/2006/relationships/image" Target="../media/image46.png"/><Relationship Id="rId9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Relationship Id="rId7" Type="http://schemas.openxmlformats.org/officeDocument/2006/relationships/image" Target="../media/image38.png"/><Relationship Id="rId8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Relationship Id="rId4" Type="http://schemas.openxmlformats.org/officeDocument/2006/relationships/hyperlink" Target="https://www.kaggle.com/datasets/yasserh/loan-default-dataset/data?select=Loan_Default.csv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0.png"/><Relationship Id="rId4" Type="http://schemas.openxmlformats.org/officeDocument/2006/relationships/image" Target="../media/image5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45.png"/><Relationship Id="rId5" Type="http://schemas.openxmlformats.org/officeDocument/2006/relationships/image" Target="../media/image3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47.png"/><Relationship Id="rId5" Type="http://schemas.openxmlformats.org/officeDocument/2006/relationships/image" Target="../media/image58.png"/><Relationship Id="rId6" Type="http://schemas.openxmlformats.org/officeDocument/2006/relationships/image" Target="../media/image5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5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5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9.png"/><Relationship Id="rId4" Type="http://schemas.openxmlformats.org/officeDocument/2006/relationships/image" Target="../media/image28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0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400166"/>
            <a:ext cx="54906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Predicting Loan Defaults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Using ML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4228816"/>
            <a:ext cx="5229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Moving from Reactive Recovery to Proactive Risk Management.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047750"/>
            <a:ext cx="5229225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81025" y="2691854"/>
            <a:ext cx="549068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Meet Alex.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81025" y="3406229"/>
            <a:ext cx="52292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Alex is a Bank Manager. His biggest headache?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NPAs (Non-Performing Assets).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436617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Every quarter, he has to explain to the board why certain loans have gone bad and how much it will cost to recover them.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Scenario </a:t>
            </a:r>
            <a:r>
              <a:rPr b="1" i="0" lang="en-US" sz="315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 State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5750" y="1682775"/>
            <a:ext cx="3492449" cy="349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38387"/>
            <a:ext cx="537210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338387"/>
            <a:ext cx="537210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86075" y="26336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756761" y="3586162"/>
            <a:ext cx="502062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Definition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76300" y="4119562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 loan becomes 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Non-Performing Asset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when the borrower fails to pay interest or principal for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90 days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43925" y="26336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6414611" y="3586162"/>
            <a:ext cx="502062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Impact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534150" y="4119562"/>
            <a:ext cx="47815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NPAs freeze the bank's capital. The money is stuck, earning no interest, and often requires costly legal action to recover.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24200" y="280511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34425" y="28051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is an NPA? </a:t>
            </a:r>
            <a:r>
              <a:rPr b="1" i="0" lang="en-US" sz="315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Definition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81025" y="516433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"Wow! Defaults have disappeared!" ... Or have they?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6425" y="3205013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2619375" y="2426940"/>
            <a:ext cx="23050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March 2021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2561748" y="2887860"/>
            <a:ext cx="2420302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9.11%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2619375" y="4288035"/>
            <a:ext cx="2305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Gross NPA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953250" y="2426940"/>
            <a:ext cx="2619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March 2025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887765" y="2887860"/>
            <a:ext cx="2750343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2.58%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953250" y="4288035"/>
            <a:ext cx="2619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Gross NPA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81025" y="581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Big Picture </a:t>
            </a:r>
            <a:r>
              <a:rPr b="1" lang="en-US" sz="3150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in Banking Sector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81025" y="1481137"/>
            <a:ext cx="5190648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"Write-Off" Reality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81025" y="2462212"/>
            <a:ext cx="519064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It's Not Fewer Defaults.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81025" y="328136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The drop is largely due to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technical write-offs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81025" y="3967162"/>
            <a:ext cx="49434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Banks remove long-defaulted loans from their active balance sheet to clean up their books, as per RBI guidelines. The default happened, but it's hidden from the headline ratio.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38387"/>
            <a:ext cx="34861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38387"/>
            <a:ext cx="34861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38387"/>
            <a:ext cx="34861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43100" y="26336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803910" y="3586162"/>
            <a:ext cx="3040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Stronger Metrics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76300" y="4119562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Improved NPA ratio signals financial health to investors and regulators.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6336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4575810" y="3586162"/>
            <a:ext cx="3040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Tax Shield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4648200" y="4119562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Written-off amounts are treated as losses, reducing the bank's taxable income.</a:t>
            </a:r>
            <a:endParaRPr/>
          </a:p>
        </p:txBody>
      </p:sp>
      <p:pic>
        <p:nvPicPr>
          <p:cNvPr descr="image.png" id="155" name="Google Shape;15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86900" y="26336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8347710" y="3586162"/>
            <a:ext cx="3040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Lending Power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420100" y="4119562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 cleaner balance sheet allows the bank to lend aggressively again.</a:t>
            </a:r>
            <a:endParaRPr/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05500" y="28051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53587" y="280511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Write Off? </a:t>
            </a:r>
            <a:r>
              <a:rPr b="1" i="0" lang="en-US" sz="315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Strategic Benefits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814946" y="2557450"/>
            <a:ext cx="1018309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05087"/>
            <a:ext cx="5324475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857964" y="2995612"/>
            <a:ext cx="4770596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7171"/>
                </a:solidFill>
                <a:latin typeface="Space Grotesk"/>
                <a:ea typeface="Space Grotesk"/>
                <a:cs typeface="Space Grotesk"/>
                <a:sym typeface="Space Grotesk"/>
              </a:rPr>
              <a:t>5.5 - 6%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971550" y="4062412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Of every 100 loans disbursed still eventually move into NPA status.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286500" y="3014662"/>
            <a:ext cx="559069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Core Problem Remains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286500" y="3548062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Writing off a loan cleans the book, but it doesn't recover the money. The bank has still lost the principal.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286500" y="4348162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We are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managing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the symptom, not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curing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the disease.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Hidden Stat </a:t>
            </a:r>
            <a:r>
              <a:rPr b="1" i="0" lang="en-US" sz="315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Persistent Risk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81025" y="2938462"/>
            <a:ext cx="549068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Costly &amp; Inefficient</a:t>
            </a:r>
            <a:endParaRPr/>
          </a:p>
        </p:txBody>
      </p:sp>
      <p:pic>
        <p:nvPicPr>
          <p:cNvPr descr="image.png" id="183" name="Google Shape;18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3358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866775" y="343376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Expensive third-party recovery agencies.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66775" y="392906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Legal fees pile up over years.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66775" y="442436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Recovery rates are often less than 30%.</a:t>
            </a:r>
            <a:endParaRPr/>
          </a:p>
        </p:txBody>
      </p:sp>
      <p:pic>
        <p:nvPicPr>
          <p:cNvPr descr="image.png" id="187" name="Google Shape;18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481387"/>
            <a:ext cx="1428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976687"/>
            <a:ext cx="1428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71987"/>
            <a:ext cx="1428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Old Way </a:t>
            </a:r>
            <a:r>
              <a:rPr b="1" i="0" lang="en-US" sz="315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Reactive Recovery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/>
          <p:nvPr/>
        </p:nvSpPr>
        <p:spPr>
          <a:xfrm>
            <a:off x="5619750" y="2571750"/>
            <a:ext cx="952500" cy="571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144476" y="2682838"/>
            <a:ext cx="11581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Building a</a:t>
            </a:r>
            <a:r>
              <a:rPr b="1" i="0" lang="en-US" sz="60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Machine Learning M</a:t>
            </a:r>
            <a:r>
              <a:rPr b="1" lang="en-US" sz="60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odel to tackle the problem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482050" y="4583875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Shifting from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Recovery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Prediction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24062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148137"/>
            <a:ext cx="522922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203358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6381750" y="2719387"/>
            <a:ext cx="549068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Stop the Bleeding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381750" y="3252787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By predicting defaults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before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they happen, banks can avoid the entire recovery process.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6610350" y="4338637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Impact: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 Saving millions in agency fees and legal costs directly boosts the bottom line.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Benefit 1 </a:t>
            </a:r>
            <a:r>
              <a:rPr b="1" i="0" lang="en-US" sz="315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Cost Efficiency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581025" y="2614612"/>
            <a:ext cx="549068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Proactive Alerts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581025" y="314801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The ML model acts like a radar.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581025" y="3643312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It identifies high-risk borrowers months before the first missed payment based on subtle behavioral patterns (e.g., spending habits, credit utilization spikes).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581025" y="474821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This allows the bank to offer restructuring or counseling early.</a:t>
            </a:r>
            <a:endParaRPr/>
          </a:p>
        </p:txBody>
      </p:sp>
      <p:pic>
        <p:nvPicPr>
          <p:cNvPr descr="image.png" id="223" name="Google Shape;22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3358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Benefit 2 </a:t>
            </a:r>
            <a:r>
              <a:rPr b="1" i="0" lang="en-US" sz="315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Early Intervention</a:t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24062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03358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 txBox="1"/>
          <p:nvPr/>
        </p:nvSpPr>
        <p:spPr>
          <a:xfrm>
            <a:off x="6381750" y="2633662"/>
            <a:ext cx="549068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Risk-Based Interest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6381750" y="316706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One size does not fit all.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6381750" y="366236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The model assigns a precise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Probability of Default (PD)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to every applicant.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6505575" y="44624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6572250" y="4462462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Low Risk: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Offer lower rates to attract best customers.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6505575" y="47672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6572250" y="4767262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High Risk: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Charge a premium to cover potential losses.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Benefit 3 </a:t>
            </a:r>
            <a:r>
              <a:rPr b="1" i="0" lang="en-US" sz="315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Dynamic Pricing</a:t>
            </a:r>
            <a:endParaRPr/>
          </a:p>
        </p:txBody>
      </p:sp>
      <p:sp>
        <p:nvSpPr>
          <p:cNvPr id="241" name="Google Shape;241;p24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705225"/>
            <a:ext cx="1544091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61877" y="3705225"/>
            <a:ext cx="1544091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42729" y="3705225"/>
            <a:ext cx="1544091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23582" y="3705225"/>
            <a:ext cx="1544091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04434" y="3705225"/>
            <a:ext cx="1544091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5286" y="3705225"/>
            <a:ext cx="1544091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66139" y="3705225"/>
            <a:ext cx="1544091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/>
          <p:nvPr/>
        </p:nvSpPr>
        <p:spPr>
          <a:xfrm>
            <a:off x="581025" y="4119562"/>
            <a:ext cx="11029950" cy="38100"/>
          </a:xfrm>
          <a:prstGeom prst="roundRect">
            <a:avLst>
              <a:gd fmla="val 16667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1238696" y="3810000"/>
            <a:ext cx="228600" cy="2286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652436" y="4181475"/>
            <a:ext cx="14012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Sourcing</a:t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2819548" y="3810000"/>
            <a:ext cx="228600" cy="2286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2233288" y="4181475"/>
            <a:ext cx="14012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Cleaning</a:t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4400401" y="3810000"/>
            <a:ext cx="228600" cy="2286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3814141" y="4181475"/>
            <a:ext cx="14012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EDA</a:t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5981253" y="3810000"/>
            <a:ext cx="228600" cy="2286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5394993" y="4181475"/>
            <a:ext cx="14012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Features</a:t>
            </a:r>
            <a:endParaRPr/>
          </a:p>
        </p:txBody>
      </p:sp>
      <p:sp>
        <p:nvSpPr>
          <p:cNvPr id="263" name="Google Shape;263;p25"/>
          <p:cNvSpPr/>
          <p:nvPr/>
        </p:nvSpPr>
        <p:spPr>
          <a:xfrm>
            <a:off x="7562105" y="3810000"/>
            <a:ext cx="228600" cy="2286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6975845" y="4181475"/>
            <a:ext cx="140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Hyperparameter Tuning</a:t>
            </a:r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9142958" y="3810000"/>
            <a:ext cx="228600" cy="2286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8556698" y="4181475"/>
            <a:ext cx="14012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</a:t>
            </a:r>
            <a:endParaRPr/>
          </a:p>
        </p:txBody>
      </p:sp>
      <p:sp>
        <p:nvSpPr>
          <p:cNvPr id="267" name="Google Shape;267;p25"/>
          <p:cNvSpPr/>
          <p:nvPr/>
        </p:nvSpPr>
        <p:spPr>
          <a:xfrm>
            <a:off x="10723810" y="3810000"/>
            <a:ext cx="228600" cy="2286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10137550" y="4181475"/>
            <a:ext cx="14012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Impact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ML Roadmap </a:t>
            </a:r>
            <a:r>
              <a:rPr b="1" i="0" lang="en-US" sz="315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End-to-End Pipeline</a:t>
            </a:r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1050" y="3666450"/>
            <a:ext cx="1544075" cy="429268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pic>
      <p:pic>
        <p:nvPicPr>
          <p:cNvPr id="272" name="Google Shape;272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161887" y="3666450"/>
            <a:ext cx="1544075" cy="429268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pic>
      <p:pic>
        <p:nvPicPr>
          <p:cNvPr id="273" name="Google Shape;273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742737" y="3666450"/>
            <a:ext cx="1544075" cy="429268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pic>
      <p:pic>
        <p:nvPicPr>
          <p:cNvPr id="274" name="Google Shape;274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23587" y="3666450"/>
            <a:ext cx="1544075" cy="429268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pic>
      <p:pic>
        <p:nvPicPr>
          <p:cNvPr id="275" name="Google Shape;275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904437" y="3666450"/>
            <a:ext cx="1544075" cy="429268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pic>
      <p:pic>
        <p:nvPicPr>
          <p:cNvPr id="276" name="Google Shape;276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485212" y="3709663"/>
            <a:ext cx="1544075" cy="429268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pic>
      <p:pic>
        <p:nvPicPr>
          <p:cNvPr id="277" name="Google Shape;277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066125" y="3666450"/>
            <a:ext cx="1544075" cy="429268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/>
          <p:nvPr/>
        </p:nvSpPr>
        <p:spPr>
          <a:xfrm>
            <a:off x="581025" y="3128962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External </a:t>
            </a: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</a:t>
            </a:r>
            <a:endParaRPr/>
          </a:p>
        </p:txBody>
      </p:sp>
      <p:pic>
        <p:nvPicPr>
          <p:cNvPr descr="image.png" id="283" name="Google Shape;28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6311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6"/>
          <p:cNvSpPr txBox="1"/>
          <p:nvPr/>
        </p:nvSpPr>
        <p:spPr>
          <a:xfrm>
            <a:off x="6381750" y="3128962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962025" y="3652462"/>
            <a:ext cx="522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4"/>
              </a:rPr>
              <a:t>Kaggle Link: Loan Default Data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895350" y="41576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939316" y="4157662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Demographics (Age, Income</a:t>
            </a:r>
            <a:r>
              <a:rPr lang="en-US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,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Region)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895350" y="44624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962025" y="4462462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Transaction History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895350" y="47672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962025" y="4767262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Loan Details (Tenure, Amount) a</a:t>
            </a:r>
            <a:r>
              <a:rPr lang="en-US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nd other details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6696075" y="4462462"/>
            <a:ext cx="6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Step 1: Data Sourcing </a:t>
            </a:r>
            <a:r>
              <a:rPr b="1" i="0" lang="en-US" sz="315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Foundation</a:t>
            </a:r>
            <a:endParaRPr/>
          </a:p>
        </p:txBody>
      </p:sp>
      <p:sp>
        <p:nvSpPr>
          <p:cNvPr id="294" name="Google Shape;294;p26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7"/>
          <p:cNvSpPr/>
          <p:nvPr/>
        </p:nvSpPr>
        <p:spPr>
          <a:xfrm>
            <a:off x="581025" y="2614612"/>
            <a:ext cx="11030100" cy="685800"/>
          </a:xfrm>
          <a:prstGeom prst="roundRect">
            <a:avLst>
              <a:gd fmla="val 1666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 txBox="1"/>
          <p:nvPr/>
        </p:nvSpPr>
        <p:spPr>
          <a:xfrm>
            <a:off x="771525" y="2805112"/>
            <a:ext cx="1064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Missing Values: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Imputed numerical nulls with Median (robust to outliers) and categorical with Mode.</a:t>
            </a:r>
            <a:endParaRPr/>
          </a:p>
        </p:txBody>
      </p:sp>
      <p:sp>
        <p:nvSpPr>
          <p:cNvPr id="302" name="Google Shape;302;p27"/>
          <p:cNvSpPr/>
          <p:nvPr/>
        </p:nvSpPr>
        <p:spPr>
          <a:xfrm>
            <a:off x="581025" y="2614612"/>
            <a:ext cx="38100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581025" y="3490912"/>
            <a:ext cx="11030100" cy="685800"/>
          </a:xfrm>
          <a:prstGeom prst="roundRect">
            <a:avLst>
              <a:gd fmla="val 1666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 txBox="1"/>
          <p:nvPr/>
        </p:nvSpPr>
        <p:spPr>
          <a:xfrm>
            <a:off x="771525" y="3681412"/>
            <a:ext cx="10649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Skewness : </a:t>
            </a:r>
            <a:r>
              <a:rPr lang="en-US" sz="1500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Performed log transformation to handle the data skewness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581025" y="3490912"/>
            <a:ext cx="38100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581025" y="4367212"/>
            <a:ext cx="11029950" cy="685800"/>
          </a:xfrm>
          <a:prstGeom prst="roundRect">
            <a:avLst>
              <a:gd fmla="val 1666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 txBox="1"/>
          <p:nvPr/>
        </p:nvSpPr>
        <p:spPr>
          <a:xfrm>
            <a:off x="771525" y="4557712"/>
            <a:ext cx="10649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Sanity Checks: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Removed negative values for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income and duplicate loan IDs.</a:t>
            </a:r>
            <a:endParaRPr/>
          </a:p>
        </p:txBody>
      </p:sp>
      <p:sp>
        <p:nvSpPr>
          <p:cNvPr id="308" name="Google Shape;308;p27"/>
          <p:cNvSpPr/>
          <p:nvPr/>
        </p:nvSpPr>
        <p:spPr>
          <a:xfrm>
            <a:off x="581025" y="4367212"/>
            <a:ext cx="38100" cy="685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Step 2: Data Cleaning </a:t>
            </a:r>
            <a:r>
              <a:rPr b="1" i="0" lang="en-US" sz="315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Quality Control</a:t>
            </a:r>
            <a:endParaRPr/>
          </a:p>
        </p:txBody>
      </p:sp>
      <p:sp>
        <p:nvSpPr>
          <p:cNvPr id="310" name="Google Shape;310;p27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"/>
          <p:cNvSpPr txBox="1"/>
          <p:nvPr/>
        </p:nvSpPr>
        <p:spPr>
          <a:xfrm>
            <a:off x="581025" y="581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Step 2: Data Cleaning </a:t>
            </a:r>
            <a:r>
              <a:rPr b="1" i="0" lang="en-US" sz="315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Quality Control</a:t>
            </a:r>
            <a:endParaRPr/>
          </a:p>
        </p:txBody>
      </p:sp>
      <p:sp>
        <p:nvSpPr>
          <p:cNvPr id="316" name="Google Shape;316;p28"/>
          <p:cNvSpPr/>
          <p:nvPr/>
        </p:nvSpPr>
        <p:spPr>
          <a:xfrm>
            <a:off x="581025" y="1276350"/>
            <a:ext cx="110301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75638" y="1112950"/>
            <a:ext cx="2428875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8"/>
          <p:cNvSpPr txBox="1"/>
          <p:nvPr/>
        </p:nvSpPr>
        <p:spPr>
          <a:xfrm>
            <a:off x="8694025" y="315613"/>
            <a:ext cx="2792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PERCENTAGE OF MISSING VALUES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075" y="1198300"/>
            <a:ext cx="8374549" cy="4155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4297" y="1606575"/>
            <a:ext cx="2936575" cy="19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8"/>
          <p:cNvSpPr txBox="1"/>
          <p:nvPr/>
        </p:nvSpPr>
        <p:spPr>
          <a:xfrm>
            <a:off x="8796450" y="4185300"/>
            <a:ext cx="2689800" cy="199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Skewness after log transformation:</a:t>
            </a:r>
            <a:endParaRPr sz="11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LTV               -2.139832</a:t>
            </a:r>
            <a:endParaRPr sz="11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income            -5.266832</a:t>
            </a:r>
            <a:endParaRPr sz="11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property_value    -0.070577</a:t>
            </a:r>
            <a:endParaRPr sz="11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Upfront_charges   -1.790133</a:t>
            </a:r>
            <a:endParaRPr sz="11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loan_amount       -0.396572</a:t>
            </a:r>
            <a:endParaRPr sz="11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Status             1.176762</a:t>
            </a:r>
            <a:endParaRPr sz="11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term               1.739486</a:t>
            </a:r>
            <a:endParaRPr sz="11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dtype: float64</a:t>
            </a:r>
            <a:endParaRPr sz="33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9"/>
          <p:cNvSpPr txBox="1"/>
          <p:nvPr/>
        </p:nvSpPr>
        <p:spPr>
          <a:xfrm>
            <a:off x="581025" y="581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Step 2: Data Cleaning </a:t>
            </a:r>
            <a:r>
              <a:rPr b="1" i="0" lang="en-US" sz="315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Quality Control</a:t>
            </a:r>
            <a:endParaRPr/>
          </a:p>
        </p:txBody>
      </p:sp>
      <p:sp>
        <p:nvSpPr>
          <p:cNvPr id="327" name="Google Shape;327;p29"/>
          <p:cNvSpPr/>
          <p:nvPr/>
        </p:nvSpPr>
        <p:spPr>
          <a:xfrm>
            <a:off x="581025" y="1276350"/>
            <a:ext cx="110301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9"/>
          <p:cNvSpPr txBox="1"/>
          <p:nvPr/>
        </p:nvSpPr>
        <p:spPr>
          <a:xfrm>
            <a:off x="508375" y="1425450"/>
            <a:ext cx="51636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SimpleImputer: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317450" y="2702075"/>
            <a:ext cx="5997300" cy="337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simple_imputer = SimpleImputer(strategy=</a:t>
            </a:r>
            <a:r>
              <a:rPr b="1" lang="en-US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'median'</a:t>
            </a:r>
            <a:r>
              <a:rPr b="1" lang="en-US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cols_to_impute = missing_precentage_num_df[missing_precentage_num_df &gt;</a:t>
            </a:r>
            <a:r>
              <a:rPr b="1" lang="en-US" sz="115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-US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].keys()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temp = df[cols_to_impute]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X_imputed = simple_imputer.fit_transform(temp)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num_df_imputed = pd.DataFrame(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X_imputed,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columns=cols_to_impute,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num_df[cols_to_impute] = num_df_imputed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df[num_df.columns] = num_df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df.isnull().</a:t>
            </a:r>
            <a:r>
              <a:rPr b="1" lang="en-US" sz="1150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US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6652400" y="3124050"/>
            <a:ext cx="5262900" cy="217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categorical_transformer = Pipeline([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(</a:t>
            </a:r>
            <a:r>
              <a:rPr lang="en-US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'imputer'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SimpleImputer(strategy=</a:t>
            </a:r>
            <a:r>
              <a:rPr lang="en-US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'most_frequent'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(</a:t>
            </a:r>
            <a:r>
              <a:rPr lang="en-US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'onehot'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OneHotEncoder(handle_unknown=</a:t>
            </a:r>
            <a:r>
              <a:rPr lang="en-US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'ignore'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sparse_output=</a:t>
            </a:r>
            <a:r>
              <a:rPr lang="en-US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preprocessor = ColumnTransformer([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(</a:t>
            </a:r>
            <a:r>
              <a:rPr lang="en-US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'cat'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categorical_transformer, cat_cols)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 txBox="1"/>
          <p:nvPr/>
        </p:nvSpPr>
        <p:spPr>
          <a:xfrm>
            <a:off x="669125" y="2191550"/>
            <a:ext cx="4214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Numerical Columns:</a:t>
            </a:r>
            <a:endParaRPr b="1"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9"/>
          <p:cNvSpPr txBox="1"/>
          <p:nvPr/>
        </p:nvSpPr>
        <p:spPr>
          <a:xfrm>
            <a:off x="6974650" y="2191550"/>
            <a:ext cx="4214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Categorical </a:t>
            </a:r>
            <a:r>
              <a:rPr b="1"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Columns:</a:t>
            </a:r>
            <a:endParaRPr b="1"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0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Step 3: EDA </a:t>
            </a:r>
            <a:r>
              <a:rPr b="1" i="0" lang="en-US" sz="315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Class Imbalance</a:t>
            </a:r>
            <a:endParaRPr/>
          </a:p>
        </p:txBody>
      </p:sp>
      <p:sp>
        <p:nvSpPr>
          <p:cNvPr id="339" name="Google Shape;339;p30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50" y="1230688"/>
            <a:ext cx="4536045" cy="274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0"/>
          <p:cNvPicPr preferRelativeResize="0"/>
          <p:nvPr/>
        </p:nvPicPr>
        <p:blipFill rotWithShape="1">
          <a:blip r:embed="rId5">
            <a:alphaModFix/>
          </a:blip>
          <a:srcRect b="3325" l="0" r="0" t="0"/>
          <a:stretch/>
        </p:blipFill>
        <p:spPr>
          <a:xfrm>
            <a:off x="5985300" y="2025725"/>
            <a:ext cx="4536050" cy="28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750" y="4098196"/>
            <a:ext cx="3636750" cy="252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/>
          <p:nvPr/>
        </p:nvSpPr>
        <p:spPr>
          <a:xfrm>
            <a:off x="581025" y="1276350"/>
            <a:ext cx="110301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6625" y="88612"/>
            <a:ext cx="4129800" cy="6680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125" y="957225"/>
            <a:ext cx="7622600" cy="5703749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1"/>
          <p:cNvSpPr txBox="1"/>
          <p:nvPr/>
        </p:nvSpPr>
        <p:spPr>
          <a:xfrm>
            <a:off x="185700" y="2456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Step 3: EDA </a:t>
            </a:r>
            <a:r>
              <a:rPr b="1" i="0" lang="en-US" sz="315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Drivers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/>
          <p:nvPr/>
        </p:nvSpPr>
        <p:spPr>
          <a:xfrm>
            <a:off x="581025" y="1276350"/>
            <a:ext cx="110301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6" name="Google Shape;35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600" y="1110163"/>
            <a:ext cx="6925375" cy="5160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7650" y="1110175"/>
            <a:ext cx="4706625" cy="3862154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2"/>
          <p:cNvSpPr txBox="1"/>
          <p:nvPr/>
        </p:nvSpPr>
        <p:spPr>
          <a:xfrm>
            <a:off x="305325" y="315400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Step 3: EDA </a:t>
            </a:r>
            <a:r>
              <a:rPr b="1" i="0" lang="en-US" sz="315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Drivers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3" name="Google Shape;3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3"/>
          <p:cNvSpPr txBox="1"/>
          <p:nvPr/>
        </p:nvSpPr>
        <p:spPr>
          <a:xfrm>
            <a:off x="581025" y="2862262"/>
            <a:ext cx="549068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Scaling</a:t>
            </a:r>
            <a:endParaRPr/>
          </a:p>
        </p:txBody>
      </p:sp>
      <p:sp>
        <p:nvSpPr>
          <p:cNvPr id="365" name="Google Shape;365;p33"/>
          <p:cNvSpPr txBox="1"/>
          <p:nvPr/>
        </p:nvSpPr>
        <p:spPr>
          <a:xfrm>
            <a:off x="581025" y="339566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Applied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StandardScaler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to numerical features (Income, Loan Amount).</a:t>
            </a:r>
            <a:endParaRPr/>
          </a:p>
        </p:txBody>
      </p:sp>
      <p:sp>
        <p:nvSpPr>
          <p:cNvPr id="366" name="Google Shape;366;p33"/>
          <p:cNvSpPr txBox="1"/>
          <p:nvPr/>
        </p:nvSpPr>
        <p:spPr>
          <a:xfrm>
            <a:off x="581025" y="419576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Ensures that high-value features don't dominate the distance calculations in the model.</a:t>
            </a:r>
            <a:endParaRPr/>
          </a:p>
        </p:txBody>
      </p:sp>
      <p:sp>
        <p:nvSpPr>
          <p:cNvPr id="367" name="Google Shape;367;p33"/>
          <p:cNvSpPr txBox="1"/>
          <p:nvPr/>
        </p:nvSpPr>
        <p:spPr>
          <a:xfrm>
            <a:off x="6381750" y="2862262"/>
            <a:ext cx="549068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Encoding</a:t>
            </a:r>
            <a:endParaRPr/>
          </a:p>
        </p:txBody>
      </p:sp>
      <p:sp>
        <p:nvSpPr>
          <p:cNvPr id="368" name="Google Shape;368;p33"/>
          <p:cNvSpPr txBox="1"/>
          <p:nvPr/>
        </p:nvSpPr>
        <p:spPr>
          <a:xfrm>
            <a:off x="6381750" y="339566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Applied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One-Hot Encoding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to categorical features (Education, Loan Purpose).</a:t>
            </a:r>
            <a:endParaRPr/>
          </a:p>
        </p:txBody>
      </p:sp>
      <p:sp>
        <p:nvSpPr>
          <p:cNvPr id="369" name="Google Shape;369;p33"/>
          <p:cNvSpPr txBox="1"/>
          <p:nvPr/>
        </p:nvSpPr>
        <p:spPr>
          <a:xfrm>
            <a:off x="6381750" y="419576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Converts text categories into binary vectors (0/1) for the machine to understand.</a:t>
            </a:r>
            <a:endParaRPr/>
          </a:p>
        </p:txBody>
      </p:sp>
      <p:pic>
        <p:nvPicPr>
          <p:cNvPr descr="image.png" id="370" name="Google Shape;37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0036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900362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3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Step 4: Preprocessing </a:t>
            </a:r>
            <a:r>
              <a:rPr b="1" i="0" lang="en-US" sz="315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Preparing Data</a:t>
            </a:r>
            <a:endParaRPr/>
          </a:p>
        </p:txBody>
      </p:sp>
      <p:sp>
        <p:nvSpPr>
          <p:cNvPr id="373" name="Google Shape;373;p33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8" name="Google Shape;37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4"/>
          <p:cNvSpPr txBox="1"/>
          <p:nvPr/>
        </p:nvSpPr>
        <p:spPr>
          <a:xfrm>
            <a:off x="581025" y="581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Step 5: </a:t>
            </a:r>
            <a:r>
              <a:rPr b="1" lang="en-US" sz="3150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Hyperparameter Tuning</a:t>
            </a:r>
            <a:endParaRPr/>
          </a:p>
        </p:txBody>
      </p:sp>
      <p:sp>
        <p:nvSpPr>
          <p:cNvPr id="380" name="Google Shape;380;p34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3100" y="4494050"/>
            <a:ext cx="104394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3088" y="3100250"/>
            <a:ext cx="5038725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3100" y="2142575"/>
            <a:ext cx="5905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8" name="Google Shape;38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5"/>
          <p:cNvSpPr txBox="1"/>
          <p:nvPr/>
        </p:nvSpPr>
        <p:spPr>
          <a:xfrm>
            <a:off x="581025" y="581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Step 5: </a:t>
            </a:r>
            <a:r>
              <a:rPr b="1" lang="en-US" sz="3150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Performance</a:t>
            </a:r>
            <a:endParaRPr/>
          </a:p>
        </p:txBody>
      </p:sp>
      <p:sp>
        <p:nvSpPr>
          <p:cNvPr id="390" name="Google Shape;390;p35"/>
          <p:cNvSpPr/>
          <p:nvPr/>
        </p:nvSpPr>
        <p:spPr>
          <a:xfrm>
            <a:off x="581025" y="1276350"/>
            <a:ext cx="110301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475" y="1276350"/>
            <a:ext cx="12005051" cy="483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6" name="Google Shape;39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6"/>
          <p:cNvSpPr/>
          <p:nvPr/>
        </p:nvSpPr>
        <p:spPr>
          <a:xfrm>
            <a:off x="581025" y="1276350"/>
            <a:ext cx="110301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201" y="205787"/>
            <a:ext cx="9702249" cy="644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3" name="Google Shape;40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3540472"/>
            <a:ext cx="5229225" cy="777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24062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72791"/>
            <a:ext cx="5229225" cy="777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508152"/>
            <a:ext cx="5229225" cy="77718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7"/>
          <p:cNvSpPr txBox="1"/>
          <p:nvPr/>
        </p:nvSpPr>
        <p:spPr>
          <a:xfrm>
            <a:off x="6562725" y="2963316"/>
            <a:ext cx="49053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Auto-Approve. Fast track.</a:t>
            </a:r>
            <a:endParaRPr/>
          </a:p>
        </p:txBody>
      </p:sp>
      <p:pic>
        <p:nvPicPr>
          <p:cNvPr descr="image.png" id="408" name="Google Shape;408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" y="203358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7"/>
          <p:cNvSpPr txBox="1"/>
          <p:nvPr/>
        </p:nvSpPr>
        <p:spPr>
          <a:xfrm>
            <a:off x="6562725" y="2715666"/>
            <a:ext cx="5150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Space Grotesk"/>
                <a:ea typeface="Space Grotesk"/>
                <a:cs typeface="Space Grotesk"/>
                <a:sym typeface="Space Grotesk"/>
              </a:rPr>
              <a:t>Green Bucket (&lt; 20%)</a:t>
            </a:r>
            <a:endParaRPr/>
          </a:p>
        </p:txBody>
      </p:sp>
      <p:sp>
        <p:nvSpPr>
          <p:cNvPr id="410" name="Google Shape;410;p37"/>
          <p:cNvSpPr txBox="1"/>
          <p:nvPr/>
        </p:nvSpPr>
        <p:spPr>
          <a:xfrm>
            <a:off x="6562725" y="3930997"/>
            <a:ext cx="49053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Manual Review. Ask for collateral.</a:t>
            </a:r>
            <a:endParaRPr/>
          </a:p>
        </p:txBody>
      </p:sp>
      <p:sp>
        <p:nvSpPr>
          <p:cNvPr id="411" name="Google Shape;411;p37"/>
          <p:cNvSpPr txBox="1"/>
          <p:nvPr/>
        </p:nvSpPr>
        <p:spPr>
          <a:xfrm>
            <a:off x="6562725" y="3683347"/>
            <a:ext cx="5150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Amber Bucket (20-60%)</a:t>
            </a:r>
            <a:endParaRPr/>
          </a:p>
        </p:txBody>
      </p:sp>
      <p:pic>
        <p:nvPicPr>
          <p:cNvPr descr="image.png" id="412" name="Google Shape;412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7"/>
          <p:cNvSpPr txBox="1"/>
          <p:nvPr/>
        </p:nvSpPr>
        <p:spPr>
          <a:xfrm>
            <a:off x="6562725" y="4651027"/>
            <a:ext cx="515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7"/>
          <p:cNvSpPr txBox="1"/>
          <p:nvPr/>
        </p:nvSpPr>
        <p:spPr>
          <a:xfrm>
            <a:off x="4893650" y="1850352"/>
            <a:ext cx="49053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Group 1 :</a:t>
            </a:r>
            <a:endParaRPr b="1" sz="270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Dheekshith B G</a:t>
            </a:r>
            <a:endParaRPr sz="270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Mahith</a:t>
            </a:r>
            <a:endParaRPr sz="270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Mouneesh</a:t>
            </a:r>
            <a:endParaRPr sz="270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Ninad</a:t>
            </a:r>
            <a:endParaRPr sz="270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5" name="Google Shape;415;p37"/>
          <p:cNvSpPr txBox="1"/>
          <p:nvPr/>
        </p:nvSpPr>
        <p:spPr>
          <a:xfrm>
            <a:off x="581025" y="581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you!</a:t>
            </a:r>
            <a:endParaRPr/>
          </a:p>
        </p:txBody>
      </p:sp>
      <p:sp>
        <p:nvSpPr>
          <p:cNvPr id="416" name="Google Shape;416;p37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